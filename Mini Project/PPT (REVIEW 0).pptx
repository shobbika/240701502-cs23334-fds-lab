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>
        <p:scale>
          <a:sx n="74" d="100"/>
          <a:sy n="74" d="100"/>
        </p:scale>
        <p:origin x="340" y="56"/>
      </p:cViewPr>
      <p:guideLst>
        <p:guide orient="horz" pos="214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890" y="274955"/>
            <a:ext cx="8862695" cy="1143000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Movie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90" y="1061049"/>
            <a:ext cx="11192510" cy="502356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>
                <a:sym typeface="+mn-ea"/>
              </a:rPr>
              <a:t>Building collaborative suggestions using data science fundamentals</a:t>
            </a:r>
            <a:endParaRPr lang="en-US" altLang="en-US" sz="18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                                                                                     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                                                                                           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                                                                                             By: Shobbika T - 240701502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en-US" sz="2000" dirty="0"/>
              <a:t>                                                                                                    Shreya K S - 240701506</a:t>
            </a:r>
          </a:p>
          <a:p>
            <a:pPr marL="0" indent="0">
              <a:buNone/>
            </a:pPr>
            <a:r>
              <a:rPr lang="en-US" altLang="en-US" sz="2000" dirty="0"/>
              <a:t>                                                                                                    Shiloh S      - 240701498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5556"/>
            <a:ext cx="10972800" cy="582613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Introduction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953000"/>
          </a:xfrm>
        </p:spPr>
        <p:txBody>
          <a:bodyPr/>
          <a:lstStyle/>
          <a:p>
            <a:pPr algn="just"/>
            <a:r>
              <a:rPr lang="en-US" altLang="en-US" sz="2000" dirty="0"/>
              <a:t>This project demonstrates how real-world platforms like Netflix and IMDb </a:t>
            </a:r>
          </a:p>
          <a:p>
            <a:pPr marL="0" indent="0" algn="just">
              <a:buNone/>
            </a:pPr>
            <a:r>
              <a:rPr lang="en-US" altLang="en-US" sz="2000" dirty="0"/>
              <a:t>leverage data science to understand viewer preferences. </a:t>
            </a:r>
          </a:p>
          <a:p>
            <a:pPr marL="0" indent="0" algn="just">
              <a:buNone/>
            </a:pPr>
            <a:endParaRPr lang="en-US" altLang="en-US" sz="2000" dirty="0"/>
          </a:p>
          <a:p>
            <a:pPr algn="just"/>
            <a:r>
              <a:rPr lang="en-US" altLang="en-US" sz="2000" dirty="0"/>
              <a:t>Using a comprehensive movie dataset with ratings, tags, and user behavior, we'll build a </a:t>
            </a:r>
          </a:p>
          <a:p>
            <a:pPr marL="0" indent="0" algn="just">
              <a:buNone/>
            </a:pPr>
            <a:r>
              <a:rPr lang="en-US" altLang="en-US" sz="2000" dirty="0"/>
              <a:t>recommendation engine that identifies patterns and suggests films tailored to </a:t>
            </a:r>
          </a:p>
          <a:p>
            <a:pPr marL="0" indent="0" algn="just">
              <a:buNone/>
            </a:pPr>
            <a:r>
              <a:rPr lang="en-US" altLang="en-US" sz="2000" dirty="0"/>
              <a:t>individual tastes. </a:t>
            </a:r>
          </a:p>
          <a:p>
            <a:pPr marL="0" indent="0" algn="just">
              <a:buNone/>
            </a:pPr>
            <a:endParaRPr lang="en-US" altLang="en-US" sz="2000" dirty="0"/>
          </a:p>
          <a:p>
            <a:pPr algn="just"/>
            <a:r>
              <a:rPr lang="en-US" altLang="en-US" sz="2000" dirty="0"/>
              <a:t>Through data preprocessing, exploratory analysis, and </a:t>
            </a:r>
          </a:p>
          <a:p>
            <a:pPr marL="0" indent="0" algn="just">
              <a:buNone/>
            </a:pPr>
            <a:r>
              <a:rPr lang="en-US" altLang="en-US" sz="2000" dirty="0"/>
              <a:t>machine learning models, you'll discover how data transforms into personalized </a:t>
            </a:r>
          </a:p>
          <a:p>
            <a:pPr marL="0" indent="0" algn="just">
              <a:buNone/>
            </a:pPr>
            <a:r>
              <a:rPr lang="en-US" altLang="en-US" sz="2000" dirty="0"/>
              <a:t>experiences</a:t>
            </a:r>
            <a:r>
              <a:rPr lang="en-US" altLang="en-US"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75171"/>
            <a:ext cx="10972800" cy="582613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The Dataset Sourcing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37330"/>
            <a:ext cx="109728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/>
              <a:t>1.Movie Information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Titles, genres, release dates, runtime, and metadata                           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/>
              <a:t>2. User Ratings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Individual scores and temporal patterns from viewers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/>
              <a:t>3. Behavioral Tags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User-generated keywords describing movie characteristics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555" y="1837330"/>
            <a:ext cx="5465445" cy="3854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3967"/>
            <a:ext cx="8165465" cy="1143000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Data Preprocessing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6862445" cy="5643245"/>
          </a:xfrm>
        </p:spPr>
        <p:txBody>
          <a:bodyPr/>
          <a:lstStyle/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/>
              <a:t>1. Handle Missing Values</a:t>
            </a:r>
          </a:p>
          <a:p>
            <a:pPr marL="0" indent="0">
              <a:buNone/>
            </a:pPr>
            <a:r>
              <a:rPr lang="en-US" altLang="en-US" sz="1800" dirty="0"/>
              <a:t>Identify and manage incomplete records using imputation or removal strategies appropriate for each feature.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2. Detect Outliers</a:t>
            </a:r>
          </a:p>
          <a:p>
            <a:pPr marL="0" indent="0">
              <a:buNone/>
            </a:pPr>
            <a:r>
              <a:rPr lang="en-US" altLang="en-US" sz="1800" dirty="0"/>
              <a:t>Find unusual ratings or viewing patterns that may skew analysis using statistical methods and visualization.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3.Scale Features</a:t>
            </a:r>
          </a:p>
          <a:p>
            <a:pPr marL="0" indent="0">
              <a:buNone/>
            </a:pPr>
            <a:r>
              <a:rPr lang="en-US" altLang="en-US" sz="1800" dirty="0"/>
              <a:t>Normalize numerical data to ensure all variables contribute equally to machine learning models.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/>
              <a:t>4.Validate Quality</a:t>
            </a:r>
          </a:p>
          <a:p>
            <a:pPr marL="0" indent="0">
              <a:buNone/>
            </a:pPr>
            <a:r>
              <a:rPr lang="en-US" altLang="en-US" sz="1800" dirty="0"/>
              <a:t>Confirm data integrity and consistency before proceeding to analysis and model building.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40" y="0"/>
            <a:ext cx="4175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47700"/>
            <a:ext cx="10972800" cy="582613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985" y="1752719"/>
            <a:ext cx="109728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/>
              <a:t>Quantitative Analysis                                                         Qualitative Analysis</a:t>
            </a:r>
          </a:p>
          <a:p>
            <a:pPr marL="0" indent="0">
              <a:buNone/>
            </a:pPr>
            <a:endParaRPr lang="en-US" altLang="en-US" sz="1800" dirty="0">
              <a:sym typeface="+mn-ea"/>
            </a:endParaRPr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1.Rating distributions and averages                                     1.Tag frequency and word clouds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2.Genre popularity metrics                                                   2.Genre relationships and themes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3.Temporal trends in viewer behavior                                   3.User sentiment pattern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4.Statistical summaries and correlations                              4.Content categorization insights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588" y="483798"/>
            <a:ext cx="10972800" cy="582613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Feature Engineering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77" y="1485301"/>
            <a:ext cx="10972800" cy="4953000"/>
          </a:xfrm>
        </p:spPr>
        <p:txBody>
          <a:bodyPr/>
          <a:lstStyle/>
          <a:p>
            <a:r>
              <a:rPr lang="en-US" altLang="en-US" sz="1600" dirty="0"/>
              <a:t>Feature engineering transforms raw movie data into meaningful inputs for machine learning models. It involves creating derived features that capture movie similarities and user preferences — for example, an “average </a:t>
            </a:r>
          </a:p>
          <a:p>
            <a:pPr marL="0" indent="0">
              <a:buNone/>
            </a:pPr>
            <a:r>
              <a:rPr lang="en-US" altLang="en-US" sz="1600" dirty="0"/>
              <a:t>      critic-to-audience rating ratio” or a “genre diversity score.”</a:t>
            </a:r>
          </a:p>
          <a:p>
            <a:endParaRPr lang="en-US" altLang="en-US" sz="1600" dirty="0"/>
          </a:p>
          <a:p>
            <a:r>
              <a:rPr lang="en-US" altLang="en-US" sz="1600" dirty="0"/>
              <a:t>Categorical variables like genres and tags are converted into numerical form using one-hot encoding or embeddings.</a:t>
            </a:r>
          </a:p>
          <a:p>
            <a:endParaRPr lang="en-US" altLang="en-US" sz="1600" dirty="0"/>
          </a:p>
          <a:p>
            <a:r>
              <a:rPr lang="en-US" altLang="en-US" sz="1600" dirty="0"/>
              <a:t>Similarity measures such as Cosine Similarity and Euclidean Distance help quantify relationships between movies or users.</a:t>
            </a:r>
          </a:p>
          <a:p>
            <a:endParaRPr lang="en-US" altLang="en-US" sz="1600" dirty="0"/>
          </a:p>
          <a:p>
            <a:r>
              <a:rPr lang="en-US" altLang="en-US" sz="1600" dirty="0"/>
              <a:t>Correlations reveal key insights — e.g., Pearson for linear relationships (budget vs. revenue) and Spearman for non-linear ones (reviews vs. ratings).</a:t>
            </a:r>
          </a:p>
          <a:p>
            <a:r>
              <a:rPr lang="en-US" altLang="en-US" sz="1600" dirty="0"/>
              <a:t>These patterns guide clustering, grouping films with shared traits like critically acclaimed dramas or family animations.</a:t>
            </a:r>
          </a:p>
          <a:p>
            <a:endParaRPr lang="en-US" altLang="en-US" sz="1600" dirty="0"/>
          </a:p>
          <a:p>
            <a:r>
              <a:rPr lang="en-US" altLang="en-US" sz="1600" dirty="0"/>
              <a:t>Effective feature selection focuses models on the most predictive signals, improving accuracy and </a:t>
            </a:r>
          </a:p>
          <a:p>
            <a:pPr marL="0" indent="0">
              <a:buNone/>
            </a:pPr>
            <a:r>
              <a:rPr lang="en-US" altLang="en-US" sz="1600" dirty="0"/>
              <a:t>      efficiency while avoiding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10590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sz="1800" b="1" dirty="0"/>
          </a:p>
          <a:p>
            <a:pPr marL="0" indent="0">
              <a:buNone/>
            </a:pPr>
            <a:endParaRPr lang="en-US" altLang="en-US" sz="1800" b="1" dirty="0"/>
          </a:p>
          <a:p>
            <a:pPr marL="0" indent="0">
              <a:buNone/>
            </a:pPr>
            <a:r>
              <a:rPr lang="en-US" altLang="en-US" sz="1800" b="1" dirty="0"/>
              <a:t>1. Evaluated multiple ML algorithms: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Linear Regression: Predict average ratings</a:t>
            </a:r>
          </a:p>
          <a:p>
            <a:endParaRPr lang="en-US" altLang="en-US" sz="1800" dirty="0"/>
          </a:p>
          <a:p>
            <a:r>
              <a:rPr lang="en-US" altLang="en-US" sz="1800" dirty="0"/>
              <a:t>Logistic Regression: Classify like/dislike responses</a:t>
            </a:r>
          </a:p>
          <a:p>
            <a:endParaRPr lang="en-US" altLang="en-US" sz="1800" dirty="0"/>
          </a:p>
          <a:p>
            <a:r>
              <a:rPr lang="en-US" altLang="en-US" sz="1800" dirty="0"/>
              <a:t>K-Nearest Neighbors (KNN): Recommend similar movies based on user behavior</a:t>
            </a:r>
          </a:p>
          <a:p>
            <a:endParaRPr lang="en-US" altLang="en-US" sz="1800" dirty="0"/>
          </a:p>
          <a:p>
            <a:r>
              <a:rPr lang="en-US" altLang="en-US" sz="1800" dirty="0"/>
              <a:t>K-Means Clustering: Group movies with shared features or genres</a:t>
            </a:r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/>
              <a:t>2. Choose the models based on performance, interpretability, and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6930"/>
            <a:ext cx="10972800" cy="582613"/>
          </a:xfrm>
        </p:spPr>
        <p:txBody>
          <a:bodyPr/>
          <a:lstStyle/>
          <a:p>
            <a:r>
              <a:rPr lang="en-US" altLang="en-US" dirty="0">
                <a:latin typeface="Bookman Old Style" panose="02050604050505020204" pitchFamily="18" charset="0"/>
              </a:rPr>
              <a:t>Evaluation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45686"/>
            <a:ext cx="109728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/>
              <a:t>Evaluation Metrics:</a:t>
            </a:r>
          </a:p>
          <a:p>
            <a:pPr marL="0" indent="0">
              <a:buNone/>
            </a:pPr>
            <a:r>
              <a:rPr lang="en-US" altLang="en-US" sz="1800" dirty="0"/>
              <a:t>       </a:t>
            </a:r>
          </a:p>
          <a:p>
            <a:r>
              <a:rPr lang="en-US" altLang="en-US" sz="1800" b="1" dirty="0"/>
              <a:t> Regression Models</a:t>
            </a:r>
          </a:p>
          <a:p>
            <a:pPr marL="457200" lvl="1" indent="0">
              <a:buNone/>
            </a:pPr>
            <a:r>
              <a:rPr lang="en-US" altLang="en-US" sz="1800" dirty="0"/>
              <a:t>-   MAE / RMSE: Measure prediction error in ratings</a:t>
            </a:r>
          </a:p>
          <a:p>
            <a:pPr marL="457200" lvl="1" indent="0">
              <a:buNone/>
            </a:pPr>
            <a:r>
              <a:rPr lang="en-US" altLang="en-US" sz="1800" dirty="0"/>
              <a:t>-   R² Score: Explains variance captured by the model</a:t>
            </a:r>
          </a:p>
          <a:p>
            <a:endParaRPr lang="en-US" altLang="en-US" sz="1800" dirty="0"/>
          </a:p>
          <a:p>
            <a:r>
              <a:rPr lang="en-US" altLang="en-US" sz="1800" b="1" dirty="0"/>
              <a:t> Classification Models</a:t>
            </a:r>
          </a:p>
          <a:p>
            <a:pPr marL="457200" lvl="1" indent="0">
              <a:buNone/>
            </a:pPr>
            <a:r>
              <a:rPr lang="en-US" altLang="en-US" sz="1800" dirty="0"/>
              <a:t>-  Accuracy, Precision, Recall, F1-Score: Evaluate like/dislike predictions</a:t>
            </a:r>
          </a:p>
          <a:p>
            <a:endParaRPr lang="en-US" altLang="en-US" sz="1800" dirty="0"/>
          </a:p>
          <a:p>
            <a:r>
              <a:rPr lang="en-US" altLang="en-US" sz="1800" b="1" dirty="0"/>
              <a:t> Clustering Models</a:t>
            </a:r>
          </a:p>
          <a:p>
            <a:pPr marL="0" indent="0">
              <a:buNone/>
            </a:pPr>
            <a:r>
              <a:rPr lang="en-US" altLang="en-US" sz="1800" b="1" dirty="0"/>
              <a:t>       </a:t>
            </a:r>
            <a:r>
              <a:rPr lang="en-US" altLang="en-US" sz="1800" dirty="0"/>
              <a:t>- </a:t>
            </a:r>
            <a:r>
              <a:rPr lang="en-US" altLang="en-US" sz="1800" b="1" dirty="0"/>
              <a:t> </a:t>
            </a:r>
            <a:r>
              <a:rPr lang="en-US" altLang="en-US" sz="1800" dirty="0"/>
              <a:t>Silhouette Score: Measures cohesion and separation of movie clusters</a:t>
            </a:r>
          </a:p>
          <a:p>
            <a:pPr marL="457200" lvl="1" indent="0">
              <a:buNone/>
            </a:pPr>
            <a:r>
              <a:rPr lang="en-US" altLang="en-US" sz="1800" dirty="0"/>
              <a:t>-  Inertia: Quantifies compactness of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3063"/>
            <a:ext cx="10972800" cy="582613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0630"/>
            <a:ext cx="109728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/>
              <a:t>Built a Movie Recommendation System using real-world data on movies, ratings, and </a:t>
            </a:r>
          </a:p>
          <a:p>
            <a:pPr marL="0" indent="0">
              <a:buNone/>
            </a:pPr>
            <a:r>
              <a:rPr lang="en-US" altLang="en-US" sz="1800" dirty="0"/>
              <a:t>user preferences.</a:t>
            </a:r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Applied a complete data science pipeline — from preprocessing and EDA to model training and evaluation.</a:t>
            </a:r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Leveraged algorithms like Linear &amp; Logistic Regression, KNN, and K-Means to uncover movie</a:t>
            </a:r>
          </a:p>
          <a:p>
            <a:pPr marL="0" indent="0">
              <a:buNone/>
            </a:pPr>
            <a:r>
              <a:rPr lang="en-US" altLang="en-US" sz="1800" dirty="0"/>
              <a:t>similarity patterns.</a:t>
            </a:r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Demonstrated the power of feature engineering and similarity measures in enhancing</a:t>
            </a:r>
          </a:p>
          <a:p>
            <a:pPr marL="0" indent="0">
              <a:buNone/>
            </a:pPr>
            <a:r>
              <a:rPr lang="en-US" altLang="en-US" sz="1800" dirty="0"/>
              <a:t>recommendation accuracy.</a:t>
            </a:r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Results show that data-driven methods can successfully personalize movie suggestions </a:t>
            </a:r>
          </a:p>
          <a:p>
            <a:pPr marL="0" indent="0">
              <a:buNone/>
            </a:pPr>
            <a:r>
              <a:rPr lang="en-US" altLang="en-US" sz="1800" dirty="0"/>
              <a:t>similar to Netflix or IMDb.</a:t>
            </a:r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Provides a strong foundation for future enhancements such as collaborative filtering,</a:t>
            </a:r>
          </a:p>
          <a:p>
            <a:pPr marL="0" indent="0">
              <a:buNone/>
            </a:pPr>
            <a:r>
              <a:rPr lang="en-US" altLang="en-US" sz="1800" dirty="0"/>
              <a:t>deep learning models, or real-time recommendation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655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Bookman Old Style</vt:lpstr>
      <vt:lpstr>Blue Waves</vt:lpstr>
      <vt:lpstr>Movie Recommendation System</vt:lpstr>
      <vt:lpstr>Introduction &amp; Scope</vt:lpstr>
      <vt:lpstr>The Dataset Sourcing</vt:lpstr>
      <vt:lpstr>Data Preprocessing &amp; Cleaning</vt:lpstr>
      <vt:lpstr>Exploratory Data Analysis</vt:lpstr>
      <vt:lpstr>Feature Engineering &amp; Relationships</vt:lpstr>
      <vt:lpstr>Model Selection</vt:lpstr>
      <vt:lpstr>Evaluation &amp; Interpretation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shilo</dc:creator>
  <cp:lastModifiedBy>shobbika thangaraj</cp:lastModifiedBy>
  <cp:revision>4</cp:revision>
  <dcterms:created xsi:type="dcterms:W3CDTF">2025-07-23T00:59:00Z</dcterms:created>
  <dcterms:modified xsi:type="dcterms:W3CDTF">2025-11-08T18:14:07Z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55731FA7F92F411FA2F639F20AC5D143_11</vt:lpwstr>
  </property>
  <property fmtid="{D5CDD505-2E9C-101B-9397-08002B2CF9AE}" pid="3" name="KSOProductBuildVer">
    <vt:lpwstr>1033-12.2.0.23155</vt:lpwstr>
  </property>
</Properties>
</file>